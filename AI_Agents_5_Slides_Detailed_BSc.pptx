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82D54"/>
                </a:solidFill>
                <a:latin typeface="Aptos"/>
              </a:defRPr>
            </a:pPr>
            <a:r>
              <a:t>AI AGENTS &amp; MULTI-AGENT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5303520" cy="5029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B9191"/>
                </a:solidFill>
                <a:latin typeface="Aptos"/>
              </a:defRPr>
            </a:pPr>
            <a:r>
              <a:t>A beginner-friendly introduction for B.Sc.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166360" cy="21488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2B3542"/>
                </a:solidFill>
                <a:latin typeface="Aptos"/>
              </a:defRPr>
            </a:pPr>
            <a:r>
              <a:t>An AI agent is a system that works toward a goal. It can interpret a request, choose a next step, use approved tools, and check the result.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2B3542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700" b="0">
                <a:solidFill>
                  <a:srgbClr val="2B3542"/>
                </a:solidFill>
                <a:latin typeface="Aptos"/>
              </a:defRPr>
            </a:pPr>
            <a:r>
              <a:t>A multi-agent system uses multiple specialized agents that coordinate to complete a larger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2519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251960"/>
            <a:ext cx="73152" cy="141732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4343400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Everyday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700016"/>
            <a:ext cx="4873752" cy="9144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A college helpdesk agent searches an approved timetable and explains when a class begins. If the timetable is unavailable, it should say so—not guess.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94360"/>
            <a:ext cx="5120640" cy="3200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5E6C7C"/>
                </a:solidFill>
                <a:latin typeface="Aptos"/>
              </a:defRPr>
            </a:pPr>
            <a:r>
              <a:t>THE BASIC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097280"/>
            <a:ext cx="2377440" cy="640080"/>
          </a:xfrm>
          <a:prstGeom prst="roundRect">
            <a:avLst/>
          </a:prstGeom>
          <a:solidFill>
            <a:srgbClr val="182D54"/>
          </a:solidFill>
          <a:ln>
            <a:solidFill>
              <a:srgbClr val="18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User goal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06840" y="1737360"/>
            <a:ext cx="0" cy="365760"/>
          </a:xfrm>
          <a:prstGeom prst="line">
            <a:avLst/>
          </a:prstGeom>
          <a:ln w="22860">
            <a:solidFill>
              <a:srgbClr val="1B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2103120"/>
            <a:ext cx="3108960" cy="731520"/>
          </a:xfrm>
          <a:prstGeom prst="roundRect">
            <a:avLst/>
          </a:prstGeom>
          <a:solidFill>
            <a:srgbClr val="1B9191"/>
          </a:solidFill>
          <a:ln>
            <a:solidFill>
              <a:srgbClr val="1B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 agent</a:t>
            </a:r>
            <a:br/>
            <a:r>
              <a:t>understands + plans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178040" y="2834640"/>
            <a:ext cx="731520" cy="54864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12680" y="2834640"/>
            <a:ext cx="685800" cy="54864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3383280"/>
            <a:ext cx="2057400" cy="731520"/>
          </a:xfrm>
          <a:prstGeom prst="roundRect">
            <a:avLst/>
          </a:prstGeom>
          <a:solidFill>
            <a:srgbClr val="735CAA"/>
          </a:solidFill>
          <a:ln>
            <a:solidFill>
              <a:srgbClr val="73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Approved tool</a:t>
            </a:r>
            <a:br/>
            <a:r>
              <a:t>(timetable)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3383280"/>
            <a:ext cx="2057400" cy="731520"/>
          </a:xfrm>
          <a:prstGeom prst="roundRect">
            <a:avLst/>
          </a:prstGeom>
          <a:solidFill>
            <a:srgbClr val="EF9B3D"/>
          </a:solidFill>
          <a:ln>
            <a:solidFill>
              <a:srgbClr val="EF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Check result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3749039"/>
            <a:ext cx="1463040" cy="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509760" y="4114800"/>
            <a:ext cx="1234440" cy="594360"/>
          </a:xfrm>
          <a:prstGeom prst="line">
            <a:avLst/>
          </a:prstGeom>
          <a:ln w="22860">
            <a:solidFill>
              <a:srgbClr val="1B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6679" y="4709160"/>
            <a:ext cx="3108960" cy="685800"/>
          </a:xfrm>
          <a:prstGeom prst="roundRect">
            <a:avLst/>
          </a:prstGeom>
          <a:solidFill>
            <a:srgbClr val="48996A"/>
          </a:solidFill>
          <a:ln>
            <a:solidFill>
              <a:srgbClr val="489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Clear response to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715000"/>
            <a:ext cx="5120640" cy="3200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82D54"/>
                </a:solidFill>
                <a:latin typeface="Aptos"/>
              </a:defRPr>
            </a:pPr>
            <a:r>
              <a:t>Goal → Plan → Tool → Check →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36576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4754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82D54"/>
                </a:solidFill>
                <a:latin typeface="Aptos"/>
              </a:defRPr>
            </a:pPr>
            <a:r>
              <a:t>1. What Is an AI Agent?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 goal-focused assistant that can take steps—not just produce 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9728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36576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169164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63040"/>
            <a:ext cx="31546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1.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19656"/>
            <a:ext cx="3136392" cy="11887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What outcome does the user want?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Example: “Find my next class.”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73152" cy="1691640"/>
          </a:xfrm>
          <a:prstGeom prst="rect">
            <a:avLst/>
          </a:prstGeom>
          <a:solidFill>
            <a:srgbClr val="7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463040"/>
            <a:ext cx="31546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2. Reasoning and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819656"/>
            <a:ext cx="3136392" cy="11887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The system interprets the request and chooses a useful next step, such as checking today's timetable.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73152" cy="1691640"/>
          </a:xfrm>
          <a:prstGeom prst="rect">
            <a:avLst/>
          </a:prstGeom>
          <a:solidFill>
            <a:srgbClr val="EF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63040"/>
            <a:ext cx="31546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3. Tools and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19656"/>
            <a:ext cx="3136392" cy="11887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A tool may search a database, call an API, or calculate a value—only when permission is granted.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83280"/>
            <a:ext cx="5212080" cy="3200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82D54"/>
                </a:solidFill>
                <a:latin typeface="Aptos"/>
              </a:defRPr>
            </a:pPr>
            <a:r>
              <a:t>EXAMPLE: COLLEGE TIMETABLE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31920"/>
            <a:ext cx="1783080" cy="804672"/>
          </a:xfrm>
          <a:prstGeom prst="roundRect">
            <a:avLst/>
          </a:prstGeom>
          <a:solidFill>
            <a:srgbClr val="182D54"/>
          </a:solidFill>
          <a:ln>
            <a:solidFill>
              <a:srgbClr val="18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Student asks:</a:t>
            </a:r>
            <a:br/>
            <a:r>
              <a:t>“Next class?”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31920"/>
            <a:ext cx="1783080" cy="804672"/>
          </a:xfrm>
          <a:prstGeom prst="roundRect">
            <a:avLst/>
          </a:prstGeom>
          <a:solidFill>
            <a:srgbClr val="1B9191"/>
          </a:solidFill>
          <a:ln>
            <a:solidFill>
              <a:srgbClr val="1B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Agent interprets</a:t>
            </a:r>
            <a:br/>
            <a:r>
              <a:t>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3931920"/>
            <a:ext cx="1783080" cy="804672"/>
          </a:xfrm>
          <a:prstGeom prst="roundRect">
            <a:avLst/>
          </a:prstGeom>
          <a:solidFill>
            <a:srgbClr val="735CAA"/>
          </a:solidFill>
          <a:ln>
            <a:solidFill>
              <a:srgbClr val="73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Searches approved</a:t>
            </a:r>
            <a:br/>
            <a:r>
              <a:t>timetable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3931920"/>
            <a:ext cx="1783080" cy="804672"/>
          </a:xfrm>
          <a:prstGeom prst="roundRect">
            <a:avLst/>
          </a:prstGeom>
          <a:solidFill>
            <a:srgbClr val="EF9B3D"/>
          </a:solidFill>
          <a:ln>
            <a:solidFill>
              <a:srgbClr val="EF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Checks date +</a:t>
            </a:r>
            <a:br/>
            <a:r>
              <a:t>course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3931920"/>
            <a:ext cx="1783080" cy="804672"/>
          </a:xfrm>
          <a:prstGeom prst="roundRect">
            <a:avLst/>
          </a:prstGeom>
          <a:solidFill>
            <a:srgbClr val="48996A"/>
          </a:solidFill>
          <a:ln>
            <a:solidFill>
              <a:srgbClr val="489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Returns verified</a:t>
            </a:r>
            <a:br/>
            <a:r>
              <a:t>answer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68880" y="4334256"/>
            <a:ext cx="411480" cy="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63440" y="4334256"/>
            <a:ext cx="411480" cy="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4334256"/>
            <a:ext cx="411480" cy="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52560" y="4334256"/>
            <a:ext cx="411480" cy="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5166360"/>
            <a:ext cx="10561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166360"/>
            <a:ext cx="73152" cy="822960"/>
          </a:xfrm>
          <a:prstGeom prst="rect">
            <a:avLst/>
          </a:prstGeom>
          <a:solidFill>
            <a:srgbClr val="C4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5257800"/>
            <a:ext cx="1028700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Important 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614416"/>
            <a:ext cx="10268712" cy="3200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If the timetable cannot be accessed or the result is unclear, explain the limitation or ask a question instead of inventing an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4754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82D54"/>
                </a:solidFill>
                <a:latin typeface="Aptos"/>
              </a:defRPr>
            </a:pPr>
            <a:r>
              <a:t>2. What Is a Multi-Agent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 larger task can be divided among agents with different responsibilities.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9728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36576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4709160" cy="7315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B3542"/>
                </a:solidFill>
                <a:latin typeface="Aptos"/>
              </a:defRPr>
            </a:pPr>
            <a:r>
              <a:t>A multi-agent system is a group of cooperating agents. Each has a role, and they share results to complete a common goal.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4251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73152" cy="10972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39776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Why use more than one agent?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88336"/>
            <a:ext cx="3959352" cy="59435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Specialization • parallel work • clearer responsibilities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11880"/>
            <a:ext cx="4251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611880"/>
            <a:ext cx="73152" cy="1234440"/>
          </a:xfrm>
          <a:prstGeom prst="rect">
            <a:avLst/>
          </a:prstGeom>
          <a:solidFill>
            <a:srgbClr val="C4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703320"/>
            <a:ext cx="39776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What can go wrong?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059936"/>
            <a:ext cx="3959352" cy="7315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Agents may duplicate work, disagree, pass along errors, or add cost and delay.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353312"/>
            <a:ext cx="5852160" cy="3200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82D54"/>
                </a:solidFill>
                <a:latin typeface="Aptos"/>
              </a:defRPr>
            </a:pPr>
            <a:r>
              <a:t>VISUAL EXAMPLE: FOOD ORDERING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783080"/>
            <a:ext cx="2377440" cy="685800"/>
          </a:xfrm>
          <a:prstGeom prst="roundRect">
            <a:avLst/>
          </a:prstGeom>
          <a:solidFill>
            <a:srgbClr val="182D54"/>
          </a:solidFill>
          <a:ln>
            <a:solidFill>
              <a:srgbClr val="18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Customer request</a:t>
            </a:r>
            <a:br/>
            <a:r>
              <a:t>“2 pizzas + 1 burger”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0" y="2468880"/>
            <a:ext cx="0" cy="320040"/>
          </a:xfrm>
          <a:prstGeom prst="line">
            <a:avLst/>
          </a:prstGeom>
          <a:ln w="22860">
            <a:solidFill>
              <a:srgbClr val="1B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03720" y="2788920"/>
            <a:ext cx="3200400" cy="658368"/>
          </a:xfrm>
          <a:prstGeom prst="roundRect">
            <a:avLst/>
          </a:prstGeom>
          <a:solidFill>
            <a:srgbClr val="1B9191"/>
          </a:solidFill>
          <a:ln>
            <a:solidFill>
              <a:srgbClr val="1B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Route / coordinator agent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492240" y="3447288"/>
            <a:ext cx="914400" cy="438912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01200" y="3447288"/>
            <a:ext cx="914400" cy="438912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40680" y="3886200"/>
            <a:ext cx="2194560" cy="713232"/>
          </a:xfrm>
          <a:prstGeom prst="roundRect">
            <a:avLst/>
          </a:prstGeom>
          <a:solidFill>
            <a:srgbClr val="735CAA"/>
          </a:solidFill>
          <a:ln>
            <a:solidFill>
              <a:srgbClr val="73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Pizza specialist</a:t>
            </a:r>
            <a:br/>
            <a:r>
              <a:t>(quantity = 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886200"/>
            <a:ext cx="2194560" cy="713232"/>
          </a:xfrm>
          <a:prstGeom prst="roundRect">
            <a:avLst/>
          </a:prstGeom>
          <a:solidFill>
            <a:srgbClr val="EF9B3D"/>
          </a:solidFill>
          <a:ln>
            <a:solidFill>
              <a:srgbClr val="EF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Burger specialist</a:t>
            </a:r>
            <a:br/>
            <a:r>
              <a:t>(quantity = 1)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37960" y="4599432"/>
            <a:ext cx="1143000" cy="41148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418320" y="4599432"/>
            <a:ext cx="1143000" cy="411480"/>
          </a:xfrm>
          <a:prstGeom prst="line">
            <a:avLst/>
          </a:prstGeom>
          <a:ln w="2286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0" y="5010912"/>
            <a:ext cx="2468880" cy="621792"/>
          </a:xfrm>
          <a:prstGeom prst="roundRect">
            <a:avLst/>
          </a:prstGeom>
          <a:solidFill>
            <a:srgbClr val="48996A"/>
          </a:solidFill>
          <a:ln>
            <a:solidFill>
              <a:srgbClr val="489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Combine + 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806440"/>
            <a:ext cx="5852160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C44D4D"/>
                </a:solidFill>
                <a:latin typeface="Aptos"/>
              </a:defRPr>
            </a:pPr>
            <a:r>
              <a:t>Confirm final order and price before placing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4754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82D54"/>
                </a:solidFill>
                <a:latin typeface="Aptos"/>
              </a:defRPr>
            </a:pPr>
            <a:r>
              <a:t>3. How Agents Use Tools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Tools connect AI to data or actions; permissions and checks keep them controlled.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9728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36576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17320"/>
            <a:ext cx="320040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73936"/>
            <a:ext cx="3182112" cy="82295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A specific operation, such as searching a timetable or using a calculator.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1325880"/>
          </a:xfrm>
          <a:prstGeom prst="rect">
            <a:avLst/>
          </a:prstGeom>
          <a:solidFill>
            <a:srgbClr val="7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417320"/>
            <a:ext cx="320040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773936"/>
            <a:ext cx="3182112" cy="82295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A defined interface that lets software request data or actions from another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1325880"/>
          </a:xfrm>
          <a:prstGeom prst="rect">
            <a:avLst/>
          </a:prstGeom>
          <a:solidFill>
            <a:srgbClr val="EF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417320"/>
            <a:ext cx="320040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773936"/>
            <a:ext cx="3182112" cy="82295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Model Context Protocol: a standard intended to help AI applications connect with tools and data consistently.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971800"/>
            <a:ext cx="5212080" cy="3200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82D54"/>
                </a:solidFill>
                <a:latin typeface="Aptos"/>
              </a:defRPr>
            </a:pPr>
            <a:r>
              <a:t>FOUR SAFETY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29000"/>
            <a:ext cx="2286000" cy="621792"/>
          </a:xfrm>
          <a:prstGeom prst="roundRect">
            <a:avLst/>
          </a:prstGeom>
          <a:solidFill>
            <a:srgbClr val="182D54"/>
          </a:solidFill>
          <a:ln>
            <a:solidFill>
              <a:srgbClr val="18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96512"/>
            <a:ext cx="228600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Who are you?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429000"/>
            <a:ext cx="2286000" cy="621792"/>
          </a:xfrm>
          <a:prstGeom prst="roundRect">
            <a:avLst/>
          </a:prstGeom>
          <a:solidFill>
            <a:srgbClr val="735CAA"/>
          </a:solidFill>
          <a:ln>
            <a:solidFill>
              <a:srgbClr val="73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096512"/>
            <a:ext cx="228600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What may you access?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29000"/>
            <a:ext cx="2286000" cy="621792"/>
          </a:xfrm>
          <a:prstGeom prst="roundRect">
            <a:avLst/>
          </a:prstGeom>
          <a:solidFill>
            <a:srgbClr val="1B9191"/>
          </a:solidFill>
          <a:ln>
            <a:solidFill>
              <a:srgbClr val="1B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96512"/>
            <a:ext cx="228600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Is the input/result valid?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429000"/>
            <a:ext cx="2286000" cy="621792"/>
          </a:xfrm>
          <a:prstGeom prst="roundRect">
            <a:avLst/>
          </a:prstGeom>
          <a:solidFill>
            <a:srgbClr val="EF9B3D"/>
          </a:solidFill>
          <a:ln>
            <a:solidFill>
              <a:srgbClr val="EF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096512"/>
            <a:ext cx="228600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Should a person confirm?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9204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892040"/>
            <a:ext cx="73152" cy="960120"/>
          </a:xfrm>
          <a:prstGeom prst="rect">
            <a:avLst/>
          </a:prstGeom>
          <a:solidFill>
            <a:srgbClr val="C4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983479"/>
            <a:ext cx="10424159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Least-privilege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340096"/>
            <a:ext cx="104058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Give each agent only the access needed for its task. A timetable agent may read schedules; it should not be able to change student 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4754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82D54"/>
                </a:solidFill>
                <a:latin typeface="Aptos"/>
              </a:defRPr>
            </a:pPr>
            <a:r>
              <a:t>4. Design, Test, and Build Responsibly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 useful agent should be reliable, secure, and clear about uncertainty.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97280" cy="54864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10528"/>
            <a:ext cx="36576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82D54"/>
                </a:solidFill>
                <a:latin typeface="Aptos"/>
              </a:defRPr>
            </a:pPr>
            <a:r>
              <a:t>WHAT SHOULD WE TEST?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783080"/>
            <a:ext cx="201168" cy="201168"/>
          </a:xfrm>
          <a:prstGeom prst="ellipse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4480560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D54"/>
                </a:solidFill>
                <a:latin typeface="Aptos"/>
              </a:defRPr>
            </a:pPr>
            <a: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79"/>
            <a:ext cx="452628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Does it give the right answer?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532887"/>
            <a:ext cx="201168" cy="201168"/>
          </a:xfrm>
          <a:prstGeom prst="ellipse">
            <a:avLst/>
          </a:prstGeom>
          <a:solidFill>
            <a:srgbClr val="73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87168"/>
            <a:ext cx="4480560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D54"/>
                </a:solidFill>
                <a:latin typeface="Aptos"/>
              </a:defRPr>
            </a:pPr>
            <a:r>
              <a:t>Tool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61487"/>
            <a:ext cx="452628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Did it call the right tool?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282696"/>
            <a:ext cx="201168" cy="201168"/>
          </a:xfrm>
          <a:prstGeom prst="ellipse">
            <a:avLst/>
          </a:prstGeom>
          <a:solidFill>
            <a:srgbClr val="EF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36976"/>
            <a:ext cx="4480560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D54"/>
                </a:solidFill>
                <a:latin typeface="Aptos"/>
              </a:defRPr>
            </a:pPr>
            <a:r>
              <a:t>Failure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11296"/>
            <a:ext cx="452628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What if data is missing?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032503"/>
            <a:ext cx="201168" cy="201168"/>
          </a:xfrm>
          <a:prstGeom prst="ellipse">
            <a:avLst/>
          </a:prstGeom>
          <a:solidFill>
            <a:srgbClr val="C4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86783"/>
            <a:ext cx="4480560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D54"/>
                </a:solidFill>
                <a:latin typeface="Aptos"/>
              </a:defRPr>
            </a:pPr>
            <a:r>
              <a:t>Privacy and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61103"/>
            <a:ext cx="452628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Does it refuse unauthorized requests?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4782312"/>
            <a:ext cx="201168" cy="201168"/>
          </a:xfrm>
          <a:prstGeom prst="ellipse">
            <a:avLst/>
          </a:prstGeom>
          <a:solidFill>
            <a:srgbClr val="48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736592"/>
            <a:ext cx="4480560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D54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10912"/>
            <a:ext cx="4526280" cy="3291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Is it timely and affordable?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37160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1371600"/>
            <a:ext cx="73152" cy="1737360"/>
          </a:xfrm>
          <a:prstGeom prst="rect">
            <a:avLst/>
          </a:prstGeom>
          <a:solidFill>
            <a:srgbClr val="1B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1463040"/>
            <a:ext cx="502920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Mini-project: College Helpdesk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1819656"/>
            <a:ext cx="5010912" cy="123443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Goal: answer questions about class times, exam dates, and campus services.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B3542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Tools: approved timetable, official notices, campus FAQ.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338328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3383280"/>
            <a:ext cx="73152" cy="1188720"/>
          </a:xfrm>
          <a:prstGeom prst="rect">
            <a:avLst/>
          </a:prstGeom>
          <a:solidFill>
            <a:srgbClr val="C4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3912" y="3474720"/>
            <a:ext cx="502920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Project safety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3831336"/>
            <a:ext cx="5010912" cy="6858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1. Never reveal private student records.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2. If an answer cannot be verified, refer to official notices or staff.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480060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4800600"/>
            <a:ext cx="73152" cy="914400"/>
          </a:xfrm>
          <a:prstGeom prst="rect">
            <a:avLst/>
          </a:prstGeom>
          <a:solidFill>
            <a:srgbClr val="48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892040"/>
            <a:ext cx="502920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D54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5248656"/>
            <a:ext cx="5010912" cy="41147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Start small • define roles • limit permissions • test failures • use human approval when needed.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06440"/>
            <a:ext cx="4937760" cy="4114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9191"/>
                </a:solidFill>
                <a:latin typeface="Aptos"/>
              </a:defRPr>
            </a:pPr>
            <a:r>
              <a:t>Discussion: What AI agent would be useful in your college?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and Multi-Agent Systems — 5 Detailed Slides for B.Sc. Students</dc:title>
  <dc:subject>Beginner-friendly teaching presentation with visual diagrams and examples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