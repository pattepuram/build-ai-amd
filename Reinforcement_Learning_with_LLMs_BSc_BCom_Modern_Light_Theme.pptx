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731520"/>
            <a:ext cx="1005840" cy="1005840"/>
          </a:xfrm>
          <a:prstGeom prst="ellipse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10698480" y="1828800"/>
            <a:ext cx="502920" cy="502920"/>
          </a:xfrm>
          <a:prstGeom prst="ellipse">
            <a:avLst/>
          </a:prstGeom>
          <a:solidFill>
            <a:srgbClr val="F5B53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4" name="Oval 3"/>
          <p:cNvSpPr/>
          <p:nvPr/>
        </p:nvSpPr>
        <p:spPr>
          <a:xfrm>
            <a:off x="9052560" y="2286000"/>
            <a:ext cx="411480" cy="411480"/>
          </a:xfrm>
          <a:prstGeom prst="ellipse">
            <a:avLst/>
          </a:prstGeom>
          <a:solidFill>
            <a:srgbClr val="3067B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10058400" y="3657600"/>
            <a:ext cx="1371600" cy="1371600"/>
          </a:xfrm>
          <a:prstGeom prst="ellipse">
            <a:avLst/>
          </a:prstGeom>
          <a:solidFill>
            <a:srgbClr val="3067B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6" name="Oval 5"/>
          <p:cNvSpPr/>
          <p:nvPr/>
        </p:nvSpPr>
        <p:spPr>
          <a:xfrm>
            <a:off x="8869680" y="4663440"/>
            <a:ext cx="640080" cy="640080"/>
          </a:xfrm>
          <a:prstGeom prst="ellipse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7955279" cy="1645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</a:t>
            </a:r>
            <a:br/>
            <a:r>
              <a:rPr>
                <a:solidFill>
                  <a:srgbClr val="1C2B44"/>
                </a:solidFill>
              </a:rPr>
              <a:t>LEARNING WITH LLMs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768096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200" b="0">
                <a:solidFill>
                  <a:srgbClr val="CEE1F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 clear, real-life introduction for B.Sc. and B.Com. 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7498079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F5B53D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From rewards and feedback to modern AI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80760"/>
            <a:ext cx="96012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0">
                <a:solidFill>
                  <a:srgbClr val="CEE1F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Based on the provided Day 3 PDF • Beginner-friendly teaching slides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743200"/>
            <a:ext cx="2286000" cy="594360"/>
          </a:xfrm>
          <a:prstGeom prst="roundRect">
            <a:avLst/>
          </a:prstGeom>
          <a:solidFill>
            <a:srgbClr val="DEEBF9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55480" y="3383280"/>
            <a:ext cx="0" cy="365759"/>
          </a:xfrm>
          <a:prstGeom prst="line">
            <a:avLst/>
          </a:prstGeom>
          <a:ln w="2540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412480" y="3794760"/>
            <a:ext cx="2286000" cy="594360"/>
          </a:xfrm>
          <a:prstGeom prst="roundRect">
            <a:avLst/>
          </a:prstGeom>
          <a:solidFill>
            <a:srgbClr val="DCF3EF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4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REWARD / FEEDBACK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955279" y="4069080"/>
            <a:ext cx="411481" cy="0"/>
          </a:xfrm>
          <a:prstGeom prst="line">
            <a:avLst/>
          </a:prstGeom>
          <a:ln w="2540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60920" y="4297680"/>
            <a:ext cx="3474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LEARN • TRY • IMPROVE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What will we learn today?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6858000" cy="4480560"/>
          </a:xfrm>
          <a:prstGeom prst="rect">
            <a:avLst/>
          </a:prstGeom>
          <a:noFill/>
        </p:spPr>
        <p:txBody>
          <a:bodyPr wrap="square" lIns="109728" rIns="73152" tIns="54864">
            <a:spAutoFit/>
          </a:bodyPr>
          <a:lstStyle/>
          <a:p>
            <a:pPr>
              <a:spcAft>
                <a:spcPts val="1200"/>
              </a:spcAft>
            </a:pPr>
            <a:r>
              <a:rPr b="1" sz="1900">
                <a:solidFill>
                  <a:srgbClr val="366FC9"/>
                </a:solidFill>
                <a:latin typeface="Aptos"/>
              </a:rPr>
              <a:t>• LLMs: </a:t>
            </a:r>
            <a:r>
              <a:rPr sz="1900">
                <a:solidFill>
                  <a:srgbClr val="1C2B44"/>
                </a:solidFill>
                <a:latin typeface="Aptos"/>
              </a:rPr>
              <a:t>what they are and how they generate text.</a:t>
            </a:r>
          </a:p>
          <a:p>
            <a:pPr>
              <a:spcAft>
                <a:spcPts val="1200"/>
              </a:spcAft>
            </a:pPr>
            <a:r>
              <a:rPr b="1" sz="1900">
                <a:solidFill>
                  <a:srgbClr val="366FC9"/>
                </a:solidFill>
                <a:latin typeface="Aptos"/>
              </a:rPr>
              <a:t>• Reinforcement learning: </a:t>
            </a:r>
            <a:r>
              <a:rPr sz="1900">
                <a:solidFill>
                  <a:srgbClr val="1C2B44"/>
                </a:solidFill>
                <a:latin typeface="Aptos"/>
              </a:rPr>
              <a:t>how an agent learns from actions and rewards.</a:t>
            </a:r>
          </a:p>
          <a:p>
            <a:pPr>
              <a:spcAft>
                <a:spcPts val="1200"/>
              </a:spcAft>
            </a:pPr>
            <a:r>
              <a:rPr b="1" sz="1900">
                <a:solidFill>
                  <a:srgbClr val="366FC9"/>
                </a:solidFill>
                <a:latin typeface="Aptos"/>
              </a:rPr>
              <a:t>• Text generation: </a:t>
            </a:r>
            <a:r>
              <a:rPr sz="1900">
                <a:solidFill>
                  <a:srgbClr val="1C2B44"/>
                </a:solidFill>
                <a:latin typeface="Aptos"/>
              </a:rPr>
              <a:t>sampling, temperature, Top-K and Top-P.</a:t>
            </a:r>
          </a:p>
          <a:p>
            <a:pPr>
              <a:spcAft>
                <a:spcPts val="1200"/>
              </a:spcAft>
            </a:pPr>
            <a:r>
              <a:rPr b="1" sz="1900">
                <a:solidFill>
                  <a:srgbClr val="366FC9"/>
                </a:solidFill>
                <a:latin typeface="Aptos"/>
              </a:rPr>
              <a:t>• Training methods: </a:t>
            </a:r>
            <a:r>
              <a:rPr sz="1900">
                <a:solidFill>
                  <a:srgbClr val="1C2B44"/>
                </a:solidFill>
                <a:latin typeface="Aptos"/>
              </a:rPr>
              <a:t>reward signals, policy gradients, PPO and GRPO.</a:t>
            </a:r>
          </a:p>
          <a:p>
            <a:pPr>
              <a:spcAft>
                <a:spcPts val="1200"/>
              </a:spcAft>
            </a:pPr>
            <a:r>
              <a:rPr b="1" sz="1900">
                <a:solidFill>
                  <a:srgbClr val="366FC9"/>
                </a:solidFill>
                <a:latin typeface="Aptos"/>
              </a:rPr>
              <a:t>• AI infrastructure: </a:t>
            </a:r>
            <a:r>
              <a:rPr sz="1900">
                <a:solidFill>
                  <a:srgbClr val="1C2B44"/>
                </a:solidFill>
                <a:latin typeface="Aptos"/>
              </a:rPr>
              <a:t>GPUs, memory, vLLM and efficient serving.</a:t>
            </a:r>
          </a:p>
          <a:p>
            <a:pPr>
              <a:spcAft>
                <a:spcPts val="1200"/>
              </a:spcAft>
            </a:pPr>
            <a:r>
              <a:rPr b="1" sz="1900">
                <a:solidFill>
                  <a:srgbClr val="366FC9"/>
                </a:solidFill>
                <a:latin typeface="Aptos"/>
              </a:rPr>
              <a:t>• Real-world uses: </a:t>
            </a:r>
            <a:r>
              <a:rPr sz="1900">
                <a:solidFill>
                  <a:srgbClr val="1C2B44"/>
                </a:solidFill>
                <a:latin typeface="Aptos"/>
              </a:rPr>
              <a:t>education, shopping and customer 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3566160"/>
          </a:xfrm>
          <a:prstGeom prst="roundRect">
            <a:avLst/>
          </a:prstGeom>
          <a:solidFill>
            <a:srgbClr val="DCF3E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8046720" y="1554480"/>
            <a:ext cx="91440" cy="3566160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247888" y="1682495"/>
            <a:ext cx="29443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Big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2084831"/>
            <a:ext cx="2944368" cy="2944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AI does not improve just by producing text. During training, feedback can guide the model towards responses that better match a task's goals.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1. What is a Large Language Model?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LLM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9848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2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An LLM is an AI system trained on large amounts of data to learn language patterns and generate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3383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91440" cy="2377440"/>
          </a:xfrm>
          <a:prstGeom prst="rect">
            <a:avLst/>
          </a:prstGeom>
          <a:solidFill>
            <a:srgbClr val="3067B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32688" y="2414016"/>
            <a:ext cx="30358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Education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816352"/>
            <a:ext cx="3035808" cy="17556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Prompt: “Explain photosynthesis simply.”</a:t>
            </a:r>
            <a:br/>
            <a:br/>
            <a:r>
              <a:rPr>
                <a:solidFill>
                  <a:srgbClr val="1C2B44"/>
                </a:solidFill>
              </a:rPr>
              <a:t>The model generates an explanation suited to the question.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286000"/>
            <a:ext cx="3383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4389120" y="2286000"/>
            <a:ext cx="91440" cy="2377440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590288" y="2414016"/>
            <a:ext cx="30358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Business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816352"/>
            <a:ext cx="3035808" cy="17556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Prompt: “Write a polite discount message.”</a:t>
            </a:r>
            <a:br/>
            <a:br/>
            <a:r>
              <a:rPr>
                <a:solidFill>
                  <a:srgbClr val="1C2B44"/>
                </a:solidFill>
              </a:rPr>
              <a:t>The model drafts customer-facing 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286000"/>
            <a:ext cx="3383280" cy="2377440"/>
          </a:xfrm>
          <a:prstGeom prst="roundRect">
            <a:avLst/>
          </a:prstGeom>
          <a:solidFill>
            <a:srgbClr val="FFF4D8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8046720" y="2286000"/>
            <a:ext cx="91440" cy="2377440"/>
          </a:xfrm>
          <a:prstGeom prst="rect">
            <a:avLst/>
          </a:prstGeom>
          <a:solidFill>
            <a:srgbClr val="F5B53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247888" y="2414016"/>
            <a:ext cx="30358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Important limit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816352"/>
            <a:ext cx="3035808" cy="17556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Fluent language does not guarantee truth. Important facts should be checked.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66360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Examples of LLM products include ChatGPT, Gemini and DeepSeek.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2. How does an LLM generate text?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LLM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1828800" cy="731520"/>
          </a:xfrm>
          <a:prstGeom prst="roundRect">
            <a:avLst/>
          </a:prstGeom>
          <a:solidFill>
            <a:srgbClr val="DEEBF9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1.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788920"/>
            <a:ext cx="1874519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3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User asks a question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50008" y="2286000"/>
            <a:ext cx="429768" cy="0"/>
          </a:xfrm>
          <a:prstGeom prst="line">
            <a:avLst/>
          </a:prstGeom>
          <a:ln w="2540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40" y="1920240"/>
            <a:ext cx="1828800" cy="731520"/>
          </a:xfrm>
          <a:prstGeom prst="roundRect">
            <a:avLst/>
          </a:prstGeom>
          <a:solidFill>
            <a:srgbClr val="DCF3EF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2.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6352" y="2788920"/>
            <a:ext cx="1874519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3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Text is split into units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81728" y="2286000"/>
            <a:ext cx="429768" cy="0"/>
          </a:xfrm>
          <a:prstGeom prst="line">
            <a:avLst/>
          </a:prstGeom>
          <a:ln w="2540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1920240"/>
            <a:ext cx="1828800" cy="731520"/>
          </a:xfrm>
          <a:prstGeom prst="roundRect">
            <a:avLst/>
          </a:prstGeom>
          <a:solidFill>
            <a:srgbClr val="FFF4D8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3. Probabilities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72" y="2788920"/>
            <a:ext cx="1874519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3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Model scores next-token options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13448" y="2286000"/>
            <a:ext cx="429767" cy="0"/>
          </a:xfrm>
          <a:prstGeom prst="line">
            <a:avLst/>
          </a:prstGeom>
          <a:ln w="2540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98079" y="1920240"/>
            <a:ext cx="1828800" cy="731520"/>
          </a:xfrm>
          <a:prstGeom prst="roundRect">
            <a:avLst/>
          </a:prstGeom>
          <a:solidFill>
            <a:srgbClr val="DEEBF9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4.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2788920"/>
            <a:ext cx="1874519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3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 token is selected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45167" y="2286000"/>
            <a:ext cx="429769" cy="0"/>
          </a:xfrm>
          <a:prstGeom prst="line">
            <a:avLst/>
          </a:prstGeom>
          <a:ln w="2540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829800" y="1920240"/>
            <a:ext cx="1828800" cy="731520"/>
          </a:xfrm>
          <a:prstGeom prst="roundRect">
            <a:avLst/>
          </a:prstGeom>
          <a:solidFill>
            <a:srgbClr val="DCF3EF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5.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1512" y="2788920"/>
            <a:ext cx="1874519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3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Steps repeat to build 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4160520"/>
            <a:ext cx="10149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22" name="Rectangle 21"/>
          <p:cNvSpPr/>
          <p:nvPr/>
        </p:nvSpPr>
        <p:spPr>
          <a:xfrm>
            <a:off x="1005840" y="4160520"/>
            <a:ext cx="91440" cy="1143000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1207008" y="4288536"/>
            <a:ext cx="9802367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4690872"/>
            <a:ext cx="9802367" cy="5212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Prompt: “The sun rises in the …”  →  “east” may be a likely next token. The model continues predicting tokens until the response is complete.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3. Tokens and embeddings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LLM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91440" cy="3566160"/>
          </a:xfrm>
          <a:prstGeom prst="rect">
            <a:avLst/>
          </a:prstGeom>
          <a:solidFill>
            <a:srgbClr val="3067B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41247" y="1453895"/>
            <a:ext cx="49560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Tokenization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56231"/>
            <a:ext cx="4956048" cy="2944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Sentence: “AI helps students.”</a:t>
            </a:r>
            <a:br/>
            <a:br/>
            <a:r>
              <a:rPr>
                <a:solidFill>
                  <a:srgbClr val="1C2B44"/>
                </a:solidFill>
              </a:rPr>
              <a:t>A tokenizer might split it into:</a:t>
            </a:r>
            <a:br/>
            <a:r>
              <a:rPr>
                <a:solidFill>
                  <a:srgbClr val="1C2B44"/>
                </a:solidFill>
              </a:rPr>
              <a:t>[ “AI”, “ helps”, “ students”, “.” ]</a:t>
            </a:r>
            <a:br/>
            <a:br/>
            <a:r>
              <a:rPr>
                <a:solidFill>
                  <a:srgbClr val="1C2B44"/>
                </a:solidFill>
              </a:rPr>
              <a:t>Actual token boundaries depend on the tokenizer.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3035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91440" cy="3566160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19088" y="1453895"/>
            <a:ext cx="49560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856231"/>
            <a:ext cx="4956048" cy="2944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An embedding is a list of numbers representing a token or piece of information.</a:t>
            </a:r>
            <a:br/>
            <a:br/>
            <a:r>
              <a:rPr>
                <a:solidFill>
                  <a:srgbClr val="1C2B44"/>
                </a:solidFill>
              </a:rPr>
              <a:t>Related words may have related representations, helping models process patterns and context.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1078992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Analogy: a library uses labels and categories to organize books; tokens and embeddings help an AI system represent and process text.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4. Training vs.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LLM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74920" cy="3474720"/>
          </a:xfrm>
          <a:prstGeom prst="roundRect">
            <a:avLst/>
          </a:prstGeom>
          <a:solidFill>
            <a:srgbClr val="DEEBF9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91440" cy="3474720"/>
          </a:xfrm>
          <a:prstGeom prst="rect">
            <a:avLst/>
          </a:prstGeom>
          <a:solidFill>
            <a:srgbClr val="3067B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78408" y="1545336"/>
            <a:ext cx="47274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947672"/>
            <a:ext cx="4727448" cy="28529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• The model learns or adjusts its parameters.</a:t>
            </a:r>
            <a:br/>
            <a:r>
              <a:rPr>
                <a:solidFill>
                  <a:srgbClr val="1C2B44"/>
                </a:solidFill>
              </a:rPr>
              <a:t>• Uses data and an optimization procedure.</a:t>
            </a:r>
            <a:br/>
            <a:r>
              <a:rPr>
                <a:solidFill>
                  <a:srgbClr val="1C2B44"/>
                </a:solidFill>
              </a:rPr>
              <a:t>• Example: learning from many example answers.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074920" cy="3474720"/>
          </a:xfrm>
          <a:prstGeom prst="roundRect">
            <a:avLst/>
          </a:prstGeom>
          <a:solidFill>
            <a:srgbClr val="DCF3E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309360" y="1417320"/>
            <a:ext cx="91440" cy="3474720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510528" y="1545336"/>
            <a:ext cx="47274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1947672"/>
            <a:ext cx="4727448" cy="28529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• The trained model is used to generate an output.</a:t>
            </a:r>
            <a:br/>
            <a:r>
              <a:rPr>
                <a:solidFill>
                  <a:srgbClr val="1C2B44"/>
                </a:solidFill>
              </a:rPr>
              <a:t>• A user enters a prompt and receives a response.</a:t>
            </a:r>
            <a:br/>
            <a:r>
              <a:rPr>
                <a:solidFill>
                  <a:srgbClr val="1C2B44"/>
                </a:solidFill>
              </a:rPr>
              <a:t>• Example: asking a chatbot to explain accounting.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Student analogy: preparation is like training; answering a test using what you learned is like inference. This is an analogy, not an exact match.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5. What is reinforcement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89920" cy="1051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2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(RL) is a machine-learning approach in which an agent learns to choose actions by interacting with an environment and receiving rewards.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71800"/>
            <a:ext cx="2057400" cy="822960"/>
          </a:xfrm>
          <a:prstGeom prst="roundRect">
            <a:avLst/>
          </a:prstGeom>
          <a:solidFill>
            <a:srgbClr val="DEEBF9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Observe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2971800"/>
            <a:ext cx="2057400" cy="822960"/>
          </a:xfrm>
          <a:prstGeom prst="roundRect">
            <a:avLst/>
          </a:prstGeom>
          <a:solidFill>
            <a:srgbClr val="DCF3EF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Choose 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971800"/>
            <a:ext cx="2057400" cy="822960"/>
          </a:xfrm>
          <a:prstGeom prst="roundRect">
            <a:avLst/>
          </a:prstGeom>
          <a:solidFill>
            <a:srgbClr val="FFF4D8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Get outcome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971800"/>
            <a:ext cx="2651760" cy="822960"/>
          </a:xfrm>
          <a:prstGeom prst="roundRect">
            <a:avLst/>
          </a:prstGeom>
          <a:solidFill>
            <a:srgbClr val="FCE6E6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Receive reward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360" y="3383280"/>
            <a:ext cx="365760" cy="0"/>
          </a:xfrm>
          <a:prstGeom prst="line">
            <a:avLst/>
          </a:prstGeom>
          <a:ln w="2540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03520" y="3383280"/>
            <a:ext cx="365760" cy="0"/>
          </a:xfrm>
          <a:prstGeom prst="line">
            <a:avLst/>
          </a:prstGeom>
          <a:ln w="2540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26679" y="3383280"/>
            <a:ext cx="365761" cy="0"/>
          </a:xfrm>
          <a:prstGeom prst="line">
            <a:avLst/>
          </a:prstGeom>
          <a:ln w="2540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418320" y="3886200"/>
            <a:ext cx="0" cy="685800"/>
          </a:xfrm>
          <a:prstGeom prst="line">
            <a:avLst/>
          </a:prstGeom>
          <a:ln w="2540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828800" y="4572000"/>
            <a:ext cx="7589520" cy="0"/>
          </a:xfrm>
          <a:prstGeom prst="line">
            <a:avLst/>
          </a:prstGeom>
          <a:ln w="2540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28800" y="3840480"/>
            <a:ext cx="0" cy="731520"/>
          </a:xfrm>
          <a:prstGeom prst="line">
            <a:avLst/>
          </a:prstGeom>
          <a:ln w="2540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48840" y="4800600"/>
            <a:ext cx="77724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The agent uses feedback to improve its policy over repeated learning steps.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6. Six key terms in reinforcement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1546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91440" cy="1600200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41247" y="1499616"/>
            <a:ext cx="28072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2807208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The decision-maker</a:t>
            </a:r>
            <a:br/>
            <a:r>
              <a:rPr>
                <a:solidFill>
                  <a:srgbClr val="1C2B44"/>
                </a:solidFill>
              </a:rPr>
              <a:t>Example: AI recommendation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371600"/>
            <a:ext cx="31546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160520" y="1371600"/>
            <a:ext cx="91440" cy="1600200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361688" y="1499616"/>
            <a:ext cx="28072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1901952"/>
            <a:ext cx="2807208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Where it operates</a:t>
            </a:r>
            <a:br/>
            <a:r>
              <a:rPr>
                <a:solidFill>
                  <a:srgbClr val="1C2B44"/>
                </a:solidFill>
              </a:rPr>
              <a:t>Example: Shopping 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371600"/>
            <a:ext cx="31546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680960" y="1371600"/>
            <a:ext cx="91440" cy="1600200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882128" y="1499616"/>
            <a:ext cx="28072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8" y="1901952"/>
            <a:ext cx="2807208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Current situation</a:t>
            </a:r>
            <a:br/>
            <a:r>
              <a:rPr>
                <a:solidFill>
                  <a:srgbClr val="1C2B44"/>
                </a:solidFill>
              </a:rPr>
              <a:t>Example: Items in the basket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29000"/>
            <a:ext cx="31546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640080" y="3429000"/>
            <a:ext cx="91440" cy="1600200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41247" y="3557016"/>
            <a:ext cx="28072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959352"/>
            <a:ext cx="2807208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What it does</a:t>
            </a:r>
            <a:br/>
            <a:r>
              <a:rPr>
                <a:solidFill>
                  <a:srgbClr val="1C2B44"/>
                </a:solidFill>
              </a:rPr>
              <a:t>Example: Recommend a product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3429000"/>
            <a:ext cx="31546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24" name="Rectangle 23"/>
          <p:cNvSpPr/>
          <p:nvPr/>
        </p:nvSpPr>
        <p:spPr>
          <a:xfrm>
            <a:off x="4160520" y="3429000"/>
            <a:ext cx="91440" cy="1600200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361688" y="3557016"/>
            <a:ext cx="28072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Reward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3959352"/>
            <a:ext cx="2807208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Numerical feedback</a:t>
            </a:r>
            <a:br/>
            <a:r>
              <a:rPr>
                <a:solidFill>
                  <a:srgbClr val="1C2B44"/>
                </a:solidFill>
              </a:rPr>
              <a:t>Example: Score based on defined outcomes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3429000"/>
            <a:ext cx="31546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28" name="Rectangle 27"/>
          <p:cNvSpPr/>
          <p:nvPr/>
        </p:nvSpPr>
        <p:spPr>
          <a:xfrm>
            <a:off x="7680960" y="3429000"/>
            <a:ext cx="91440" cy="1600200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7882128" y="3557016"/>
            <a:ext cx="28072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8" y="3959352"/>
            <a:ext cx="2807208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Action-selection strategy</a:t>
            </a:r>
            <a:br/>
            <a:r>
              <a:rPr>
                <a:solidFill>
                  <a:srgbClr val="1C2B44"/>
                </a:solidFill>
              </a:rPr>
              <a:t>Example: How it chooses products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7. RL in real life: two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REAL-WORLD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114800"/>
          </a:xfrm>
          <a:prstGeom prst="roundRect">
            <a:avLst/>
          </a:prstGeom>
          <a:solidFill>
            <a:srgbClr val="DEEBF9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91440" cy="4114800"/>
          </a:xfrm>
          <a:prstGeom prst="rect">
            <a:avLst/>
          </a:prstGeom>
          <a:solidFill>
            <a:srgbClr val="3067B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32688" y="1499616"/>
            <a:ext cx="48646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B.Sc. example: robot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01952"/>
            <a:ext cx="4864608" cy="34930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GOAL: Reach a destination</a:t>
            </a:r>
            <a:br/>
            <a:br/>
            <a:r>
              <a:rPr>
                <a:solidFill>
                  <a:srgbClr val="1C2B44"/>
                </a:solidFill>
              </a:rPr>
              <a:t>• State: robot's current position</a:t>
            </a:r>
            <a:br/>
            <a:r>
              <a:rPr>
                <a:solidFill>
                  <a:srgbClr val="1C2B44"/>
                </a:solidFill>
              </a:rPr>
              <a:t>• Action: move left, right, forward</a:t>
            </a:r>
            <a:br/>
            <a:r>
              <a:rPr>
                <a:solidFill>
                  <a:srgbClr val="1C2B44"/>
                </a:solidFill>
              </a:rPr>
              <a:t>• Reward: feedback linked to progress or reaching the goal</a:t>
            </a:r>
            <a:br/>
            <a:r>
              <a:rPr>
                <a:solidFill>
                  <a:srgbClr val="1C2B44"/>
                </a:solidFill>
              </a:rPr>
              <a:t>• Learning: improve the strategy over attempts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212080" cy="4114800"/>
          </a:xfrm>
          <a:prstGeom prst="roundRect">
            <a:avLst/>
          </a:prstGeom>
          <a:solidFill>
            <a:srgbClr val="DCF3E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91440" cy="4114800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64807" y="1499616"/>
            <a:ext cx="48646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B.Com. example: shopping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901952"/>
            <a:ext cx="4864608" cy="34930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GOAL: Improve product recommendations</a:t>
            </a:r>
            <a:br/>
            <a:br/>
            <a:r>
              <a:rPr>
                <a:solidFill>
                  <a:srgbClr val="1C2B44"/>
                </a:solidFill>
              </a:rPr>
              <a:t>• State: relevant shopping-session information</a:t>
            </a:r>
            <a:br/>
            <a:r>
              <a:rPr>
                <a:solidFill>
                  <a:srgbClr val="1C2B44"/>
                </a:solidFill>
              </a:rPr>
              <a:t>• Action: recommend a product</a:t>
            </a:r>
            <a:br/>
            <a:r>
              <a:rPr>
                <a:solidFill>
                  <a:srgbClr val="1C2B44"/>
                </a:solidFill>
              </a:rPr>
              <a:t>• Reward: defined outcome or feedback</a:t>
            </a:r>
            <a:br/>
            <a:r>
              <a:rPr>
                <a:solidFill>
                  <a:srgbClr val="1C2B44"/>
                </a:solidFill>
              </a:rPr>
              <a:t>• Learning: refine the recommendation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715000"/>
            <a:ext cx="102412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C34B4B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Caution: a purchase alone does not prove customer satisfaction. Rewards must reflect the real goal.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8. How can RL help an LLM?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RL FOR LANGUAGE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2148840" cy="914400"/>
          </a:xfrm>
          <a:prstGeom prst="roundRect">
            <a:avLst/>
          </a:prstGeom>
          <a:solidFill>
            <a:srgbClr val="DEEBF9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7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Prompt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377440"/>
            <a:ext cx="411480" cy="0"/>
          </a:xfrm>
          <a:prstGeom prst="line">
            <a:avLst/>
          </a:prstGeom>
          <a:ln w="2540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91840" y="1920240"/>
            <a:ext cx="2148840" cy="914400"/>
          </a:xfrm>
          <a:prstGeom prst="roundRect">
            <a:avLst/>
          </a:prstGeom>
          <a:solidFill>
            <a:srgbClr val="DCF3EF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Model generates</a:t>
            </a:r>
            <a:br/>
            <a:r>
              <a:rPr>
                <a:solidFill>
                  <a:srgbClr val="1C2B44"/>
                </a:solidFill>
              </a:rPr>
              <a:t>an answer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40680" y="2377440"/>
            <a:ext cx="411480" cy="0"/>
          </a:xfrm>
          <a:prstGeom prst="line">
            <a:avLst/>
          </a:prstGeom>
          <a:ln w="2540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897880" y="1920240"/>
            <a:ext cx="2148840" cy="914400"/>
          </a:xfrm>
          <a:prstGeom prst="roundRect">
            <a:avLst/>
          </a:prstGeom>
          <a:solidFill>
            <a:srgbClr val="FFF4D8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Evaluate answer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46720" y="2377440"/>
            <a:ext cx="411480" cy="0"/>
          </a:xfrm>
          <a:prstGeom prst="line">
            <a:avLst/>
          </a:prstGeom>
          <a:ln w="2540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503920" y="1920240"/>
            <a:ext cx="2743200" cy="914400"/>
          </a:xfrm>
          <a:prstGeom prst="roundRect">
            <a:avLst/>
          </a:prstGeom>
          <a:solidFill>
            <a:srgbClr val="FCE6E6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Reward guides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102412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Example prompt: “Explain inflation to a beginner.”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06240"/>
            <a:ext cx="10241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914400" y="4206240"/>
            <a:ext cx="91440" cy="1188720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115568" y="4334255"/>
            <a:ext cx="9893807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What might be evaluated?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736592"/>
            <a:ext cx="9893807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Accuracy • Relevance • Clarity • Following instructions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104241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C34B4B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 training algorithm uses reward information to update model parameters; the reward does not rewrite the answer by itself.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9. Rewards, policy and 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RL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429000" cy="2286000"/>
          </a:xfrm>
          <a:prstGeom prst="roundRect">
            <a:avLst/>
          </a:prstGeom>
          <a:solidFill>
            <a:srgbClr val="DCF3E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91440" cy="2286000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86968" y="1453895"/>
            <a:ext cx="308152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56231"/>
            <a:ext cx="3081528" cy="16642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 numerical signal for how desirable an outcome 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429000" cy="2286000"/>
          </a:xfrm>
          <a:prstGeom prst="roundRect">
            <a:avLst/>
          </a:prstGeom>
          <a:solidFill>
            <a:srgbClr val="DEEBF9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91440" cy="2286000"/>
          </a:xfrm>
          <a:prstGeom prst="rect">
            <a:avLst/>
          </a:prstGeom>
          <a:solidFill>
            <a:srgbClr val="3067B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90288" y="1453895"/>
            <a:ext cx="308152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56231"/>
            <a:ext cx="3081528" cy="16642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The strategy used to select an action or next token.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429000" cy="2286000"/>
          </a:xfrm>
          <a:prstGeom prst="roundRect">
            <a:avLst/>
          </a:prstGeom>
          <a:solidFill>
            <a:srgbClr val="FFF4D8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91440" cy="2286000"/>
          </a:xfrm>
          <a:prstGeom prst="rect">
            <a:avLst/>
          </a:prstGeom>
          <a:solidFill>
            <a:srgbClr val="F5B53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293608" y="1453895"/>
            <a:ext cx="308152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856231"/>
            <a:ext cx="3081528" cy="16642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The accumulated reward over a sequence of steps.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69080"/>
            <a:ext cx="47548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Simple example (ignore discounting):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50292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5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Rewards:  +5  −2  +10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572000"/>
            <a:ext cx="51206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5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Return = 5 − 2 + 10 = 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058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C34B4B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Rewards are only useful when they measure the objective we actually care about.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10. Policy gradients and REINFORCE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RL TRAINING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78992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1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 policy-gradient method estimates how policy parameters should change to improve expected reward.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23160"/>
            <a:ext cx="2148840" cy="777240"/>
          </a:xfrm>
          <a:prstGeom prst="roundRect">
            <a:avLst/>
          </a:prstGeom>
          <a:solidFill>
            <a:srgbClr val="DEEBF9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Try an action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2816352"/>
            <a:ext cx="594360" cy="0"/>
          </a:xfrm>
          <a:prstGeom prst="line">
            <a:avLst/>
          </a:prstGeom>
          <a:ln w="2540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11880" y="2423160"/>
            <a:ext cx="2148840" cy="777240"/>
          </a:xfrm>
          <a:prstGeom prst="roundRect">
            <a:avLst/>
          </a:prstGeom>
          <a:solidFill>
            <a:srgbClr val="DCF3EF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Observe reward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60720" y="2816352"/>
            <a:ext cx="594360" cy="0"/>
          </a:xfrm>
          <a:prstGeom prst="line">
            <a:avLst/>
          </a:prstGeom>
          <a:ln w="2540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0" y="2423160"/>
            <a:ext cx="2148840" cy="777240"/>
          </a:xfrm>
          <a:prstGeom prst="roundRect">
            <a:avLst/>
          </a:prstGeom>
          <a:solidFill>
            <a:srgbClr val="FFF4D8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Estimate update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49640" y="2816352"/>
            <a:ext cx="594360" cy="0"/>
          </a:xfrm>
          <a:prstGeom prst="line">
            <a:avLst/>
          </a:prstGeom>
          <a:ln w="2540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89720" y="2423160"/>
            <a:ext cx="2148840" cy="777240"/>
          </a:xfrm>
          <a:prstGeom prst="roundRect">
            <a:avLst/>
          </a:prstGeom>
          <a:solidFill>
            <a:srgbClr val="FCE6E6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Adjust policy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77639"/>
            <a:ext cx="10241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914400" y="3977639"/>
            <a:ext cx="91440" cy="1417320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115568" y="4105655"/>
            <a:ext cx="9893807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 in plain English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507992"/>
            <a:ext cx="9893807" cy="7955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It uses the return associated with actions to estimate a policy update. Positive returns tend to reinforce sampled actions in the basic estimator; negative returns tend to discourage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669280"/>
            <a:ext cx="10058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The equation is optional at this level; focus on the feedback → update idea.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11. Sampling: choosing the next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TEXT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78992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 language model scores possible next tokens. Sampling selects a token using the probability distribution.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12801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east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057400"/>
            <a:ext cx="5943600" cy="310896"/>
          </a:xfrm>
          <a:prstGeom prst="roundRect">
            <a:avLst/>
          </a:prstGeom>
          <a:solidFill>
            <a:srgbClr val="E1E8F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2286000" y="2057400"/>
            <a:ext cx="4160520" cy="310896"/>
          </a:xfrm>
          <a:prstGeom prst="round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458200" y="2039112"/>
            <a:ext cx="914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43200"/>
            <a:ext cx="12801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morning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743200"/>
            <a:ext cx="5943600" cy="310896"/>
          </a:xfrm>
          <a:prstGeom prst="roundRect">
            <a:avLst/>
          </a:prstGeom>
          <a:solidFill>
            <a:srgbClr val="E1E8F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2286000" y="2743200"/>
            <a:ext cx="891540" cy="310896"/>
          </a:xfrm>
          <a:prstGeom prst="round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458200" y="2724912"/>
            <a:ext cx="914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29000"/>
            <a:ext cx="12801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sky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3429000"/>
            <a:ext cx="5943600" cy="310896"/>
          </a:xfrm>
          <a:prstGeom prst="roundRect">
            <a:avLst/>
          </a:prstGeom>
          <a:solidFill>
            <a:srgbClr val="E1E8F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2286000" y="3429000"/>
            <a:ext cx="594360" cy="310896"/>
          </a:xfrm>
          <a:prstGeom prst="round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458200" y="3410712"/>
            <a:ext cx="914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114800"/>
            <a:ext cx="12801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other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4114800"/>
            <a:ext cx="5943600" cy="310896"/>
          </a:xfrm>
          <a:prstGeom prst="roundRect">
            <a:avLst/>
          </a:prstGeom>
          <a:solidFill>
            <a:srgbClr val="E1E8F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2286000" y="4114800"/>
            <a:ext cx="297180" cy="310896"/>
          </a:xfrm>
          <a:prstGeom prst="round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8458200" y="4096512"/>
            <a:ext cx="914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2057400"/>
            <a:ext cx="2011680" cy="2423160"/>
          </a:xfrm>
          <a:prstGeom prst="roundRect">
            <a:avLst/>
          </a:prstGeom>
          <a:solidFill>
            <a:srgbClr val="FFF4D8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25" name="Rectangle 24"/>
          <p:cNvSpPr/>
          <p:nvPr/>
        </p:nvSpPr>
        <p:spPr>
          <a:xfrm>
            <a:off x="9372600" y="2057400"/>
            <a:ext cx="91440" cy="2423160"/>
          </a:xfrm>
          <a:prstGeom prst="rect">
            <a:avLst/>
          </a:prstGeom>
          <a:solidFill>
            <a:srgbClr val="F5B53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9573768" y="2185416"/>
            <a:ext cx="16642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3768" y="2587752"/>
            <a:ext cx="1664208" cy="180136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“The sun rises in the …”</a:t>
            </a:r>
            <a:br/>
            <a:br/>
            <a:r>
              <a:rPr>
                <a:solidFill>
                  <a:srgbClr val="1C2B44"/>
                </a:solidFill>
              </a:rPr>
              <a:t>Illustrative probabilities only.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94960"/>
            <a:ext cx="104241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Greedy decoding chooses the highest-probability token; sampling can choose among candidates according to probabilities.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12. Temperature, Top-K and Top-P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TEXT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66160" cy="3566160"/>
          </a:xfrm>
          <a:prstGeom prst="roundRect">
            <a:avLst/>
          </a:prstGeom>
          <a:solidFill>
            <a:srgbClr val="DEEBF9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91440" cy="3566160"/>
          </a:xfrm>
          <a:prstGeom prst="rect">
            <a:avLst/>
          </a:prstGeom>
          <a:solidFill>
            <a:srgbClr val="3067B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41247" y="1545336"/>
            <a:ext cx="32186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Temperature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47672"/>
            <a:ext cx="3218688" cy="2944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Changes how concentrated the token probabilities are.</a:t>
            </a:r>
            <a:br/>
            <a:br/>
            <a:r>
              <a:rPr>
                <a:solidFill>
                  <a:srgbClr val="1C2B44"/>
                </a:solidFill>
              </a:rPr>
              <a:t>Lower: usually more predictable.</a:t>
            </a:r>
            <a:br/>
            <a:r>
              <a:rPr>
                <a:solidFill>
                  <a:srgbClr val="1C2B44"/>
                </a:solidFill>
              </a:rPr>
              <a:t>Higher: usually more varied.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66160" cy="3566160"/>
          </a:xfrm>
          <a:prstGeom prst="roundRect">
            <a:avLst/>
          </a:prstGeom>
          <a:solidFill>
            <a:srgbClr val="DCF3E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91440" cy="3566160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44568" y="1545336"/>
            <a:ext cx="32186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Top-K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947672"/>
            <a:ext cx="3218688" cy="2944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Keeps a fixed number of the highest-probability candidates.</a:t>
            </a:r>
            <a:br/>
            <a:br/>
            <a:r>
              <a:rPr>
                <a:solidFill>
                  <a:srgbClr val="1C2B44"/>
                </a:solidFill>
              </a:rPr>
              <a:t>Example: K = 3 means sample from the top three candidates.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566160" cy="3566160"/>
          </a:xfrm>
          <a:prstGeom prst="roundRect">
            <a:avLst/>
          </a:prstGeom>
          <a:solidFill>
            <a:srgbClr val="FFF4D8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91440" cy="3566160"/>
          </a:xfrm>
          <a:prstGeom prst="rect">
            <a:avLst/>
          </a:prstGeom>
          <a:solidFill>
            <a:srgbClr val="F5B53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247888" y="1545336"/>
            <a:ext cx="32186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Top-P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947672"/>
            <a:ext cx="3218688" cy="2944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Keeps candidates until their cumulative probability reaches a chosen threshold.</a:t>
            </a:r>
            <a:br/>
            <a:br/>
            <a:r>
              <a:rPr>
                <a:solidFill>
                  <a:srgbClr val="1C2B44"/>
                </a:solidFill>
              </a:rPr>
              <a:t>The number of candidates can change.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40680"/>
            <a:ext cx="104241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C34B4B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These settings affect text variety. They do not guarantee factual correctness.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13. CPUs and GPUs: why AI uses GPUs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AI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66360" cy="3383280"/>
          </a:xfrm>
          <a:prstGeom prst="roundRect">
            <a:avLst/>
          </a:prstGeom>
          <a:solidFill>
            <a:srgbClr val="DEEBF9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91440" cy="3383280"/>
          </a:xfrm>
          <a:prstGeom prst="rect">
            <a:avLst/>
          </a:prstGeom>
          <a:solidFill>
            <a:srgbClr val="3067B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32688" y="1545336"/>
            <a:ext cx="48188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CPU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47672"/>
            <a:ext cx="4818888" cy="2761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Central Processing Unit</a:t>
            </a:r>
            <a:br/>
            <a:br/>
            <a:r>
              <a:rPr>
                <a:solidFill>
                  <a:srgbClr val="1C2B44"/>
                </a:solidFill>
              </a:rPr>
              <a:t>• General-purpose processor</a:t>
            </a:r>
            <a:br/>
            <a:r>
              <a:rPr>
                <a:solidFill>
                  <a:srgbClr val="1C2B44"/>
                </a:solidFill>
              </a:rPr>
              <a:t>• Handles many kinds of computing tasks</a:t>
            </a:r>
            <a:br/>
            <a:r>
              <a:rPr>
                <a:solidFill>
                  <a:srgbClr val="1C2B44"/>
                </a:solidFill>
              </a:rPr>
              <a:t>• Useful for program control and varied operations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166360" cy="3383280"/>
          </a:xfrm>
          <a:prstGeom prst="roundRect">
            <a:avLst/>
          </a:prstGeom>
          <a:solidFill>
            <a:srgbClr val="DCF3E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91440" cy="3383280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64807" y="1545336"/>
            <a:ext cx="48188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GPU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947672"/>
            <a:ext cx="4818888" cy="2761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Graphics Processing Unit</a:t>
            </a:r>
            <a:br/>
            <a:br/>
            <a:r>
              <a:rPr>
                <a:solidFill>
                  <a:srgbClr val="1C2B44"/>
                </a:solidFill>
              </a:rPr>
              <a:t>• Designed for many parallel operations</a:t>
            </a:r>
            <a:br/>
            <a:r>
              <a:rPr>
                <a:solidFill>
                  <a:srgbClr val="1C2B44"/>
                </a:solidFill>
              </a:rPr>
              <a:t>• Accelerates suitable matrix and tensor calculations</a:t>
            </a:r>
            <a:br/>
            <a:r>
              <a:rPr>
                <a:solidFill>
                  <a:srgbClr val="1C2B44"/>
                </a:solidFill>
              </a:rPr>
              <a:t>• Widely used in deep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104241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Analogy: one person solving many problems sequentially vs. a group solving separate problems at the same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14. GPU memory and the KV 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AI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1663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91440" cy="3566160"/>
          </a:xfrm>
          <a:prstGeom prst="rect">
            <a:avLst/>
          </a:prstGeom>
          <a:solidFill>
            <a:srgbClr val="3067B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32688" y="1453895"/>
            <a:ext cx="48188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GPU memory stores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56231"/>
            <a:ext cx="4818888" cy="2944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• Model weights</a:t>
            </a:r>
            <a:br/>
            <a:r>
              <a:rPr>
                <a:solidFill>
                  <a:srgbClr val="1C2B44"/>
                </a:solidFill>
              </a:rPr>
              <a:t>• Intermediate computations</a:t>
            </a:r>
            <a:br/>
            <a:r>
              <a:rPr>
                <a:solidFill>
                  <a:srgbClr val="1C2B44"/>
                </a:solidFill>
              </a:rPr>
              <a:t>• Attention data</a:t>
            </a:r>
            <a:br/>
            <a:r>
              <a:rPr>
                <a:solidFill>
                  <a:srgbClr val="1C2B44"/>
                </a:solidFill>
              </a:rPr>
              <a:t>• KV cache</a:t>
            </a:r>
            <a:br/>
            <a:r>
              <a:rPr>
                <a:solidFill>
                  <a:srgbClr val="1C2B44"/>
                </a:solidFill>
              </a:rPr>
              <a:t>• Temporary buffers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1663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91440" cy="3566160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64807" y="1453895"/>
            <a:ext cx="48188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KV 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856231"/>
            <a:ext cx="4818888" cy="2944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During text generation, a Transformer can store previously computed attention keys and values.</a:t>
            </a:r>
            <a:br/>
            <a:br/>
            <a:r>
              <a:rPr>
                <a:solidFill>
                  <a:srgbClr val="1C2B44"/>
                </a:solidFill>
              </a:rPr>
              <a:t>This avoids recomputing some information, but the cache uses memory.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C34B4B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Weights-only example: 1 billion parameters × 2 bytes ≈ 2 GB (decimal). Actual memory use is higher.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15. Distributed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AI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520440" cy="3383280"/>
          </a:xfrm>
          <a:prstGeom prst="roundRect">
            <a:avLst/>
          </a:prstGeom>
          <a:solidFill>
            <a:srgbClr val="DEEBF9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91440" cy="3383280"/>
          </a:xfrm>
          <a:prstGeom prst="rect">
            <a:avLst/>
          </a:prstGeom>
          <a:solidFill>
            <a:srgbClr val="3067B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86968" y="1499616"/>
            <a:ext cx="31729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Data parallelism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01952"/>
            <a:ext cx="3172968" cy="2761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Different devices process different portions of data while holding model replicas.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520440" cy="3383280"/>
          </a:xfrm>
          <a:prstGeom prst="roundRect">
            <a:avLst/>
          </a:prstGeom>
          <a:solidFill>
            <a:srgbClr val="DCF3E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91440" cy="3383280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44568" y="1499616"/>
            <a:ext cx="31729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Tensor parallelism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901952"/>
            <a:ext cx="3172968" cy="2761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The computation for large tensor operations is divided across devices.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371600"/>
            <a:ext cx="3520440" cy="3383280"/>
          </a:xfrm>
          <a:prstGeom prst="roundRect">
            <a:avLst/>
          </a:prstGeom>
          <a:solidFill>
            <a:srgbClr val="FFF4D8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8001000" y="1371600"/>
            <a:ext cx="91440" cy="3383280"/>
          </a:xfrm>
          <a:prstGeom prst="rect">
            <a:avLst/>
          </a:prstGeom>
          <a:solidFill>
            <a:srgbClr val="F5B53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202168" y="1499616"/>
            <a:ext cx="31729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Pipeline parallelism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1901952"/>
            <a:ext cx="3172968" cy="2761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Different model stages are placed on different devices.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Analogy: a large task is split across people or teams so it can be handled with shared effort.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16. vLLM and efficient serving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SERVING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78992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2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vLLM is a system designed to serve large language models efficiently.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166360" cy="2926080"/>
          </a:xfrm>
          <a:prstGeom prst="roundRect">
            <a:avLst/>
          </a:prstGeom>
          <a:solidFill>
            <a:srgbClr val="DCF3E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91440" cy="2926080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32688" y="2139696"/>
            <a:ext cx="48188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PagedAttention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42032"/>
            <a:ext cx="4818888" cy="23042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Manages the KV cache in blocks instead of requiring one large contiguous region for every sequence. This can improve memory 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11680"/>
            <a:ext cx="5166360" cy="2926080"/>
          </a:xfrm>
          <a:prstGeom prst="roundRect">
            <a:avLst/>
          </a:prstGeom>
          <a:solidFill>
            <a:srgbClr val="DEEBF9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263640" y="2011680"/>
            <a:ext cx="91440" cy="2926080"/>
          </a:xfrm>
          <a:prstGeom prst="rect">
            <a:avLst/>
          </a:prstGeom>
          <a:solidFill>
            <a:srgbClr val="3067B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64807" y="2139696"/>
            <a:ext cx="48188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Continuous batching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542032"/>
            <a:ext cx="4818888" cy="23042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Allows new requests to join ongoing serving work as earlier requests finish, helping keep hardware busy.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1078992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Restaurant analogy: a flexible kitchen begins new orders as earlier orders are completed instead of waiting for every order in a fixed group.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17. PPO and GRPO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POLICY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66360" cy="3749039"/>
          </a:xfrm>
          <a:prstGeom prst="roundRect">
            <a:avLst/>
          </a:prstGeom>
          <a:solidFill>
            <a:srgbClr val="DEEBF9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91440" cy="3749039"/>
          </a:xfrm>
          <a:prstGeom prst="rect">
            <a:avLst/>
          </a:prstGeom>
          <a:solidFill>
            <a:srgbClr val="3067B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32688" y="1499616"/>
            <a:ext cx="48188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PPO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01952"/>
            <a:ext cx="4818888" cy="312724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Proximal Policy Optimization</a:t>
            </a:r>
            <a:br/>
            <a:br/>
            <a:r>
              <a:rPr>
                <a:solidFill>
                  <a:srgbClr val="1C2B44"/>
                </a:solidFill>
              </a:rPr>
              <a:t>• Improves a policy using reward information.</a:t>
            </a:r>
            <a:br/>
            <a:r>
              <a:rPr>
                <a:solidFill>
                  <a:srgbClr val="1C2B44"/>
                </a:solidFill>
              </a:rPr>
              <a:t>• Uses a clipped objective to help limit policy changes.</a:t>
            </a:r>
            <a:br/>
            <a:r>
              <a:rPr>
                <a:solidFill>
                  <a:srgbClr val="1C2B44"/>
                </a:solidFill>
              </a:rPr>
              <a:t>• Aims to make updates more stable.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166360" cy="3749039"/>
          </a:xfrm>
          <a:prstGeom prst="roundRect">
            <a:avLst/>
          </a:prstGeom>
          <a:solidFill>
            <a:srgbClr val="DCF3E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91440" cy="3749039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64807" y="1499616"/>
            <a:ext cx="48188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0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GRPO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901952"/>
            <a:ext cx="4818888" cy="312724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Group Relative Policy Optimization</a:t>
            </a:r>
            <a:br/>
            <a:br/>
            <a:r>
              <a:rPr>
                <a:solidFill>
                  <a:srgbClr val="1C2B44"/>
                </a:solidFill>
              </a:rPr>
              <a:t>• Generates multiple responses for a prompt.</a:t>
            </a:r>
            <a:br/>
            <a:r>
              <a:rPr>
                <a:solidFill>
                  <a:srgbClr val="1C2B44"/>
                </a:solidFill>
              </a:rPr>
              <a:t>• Compares their rewards within a group.</a:t>
            </a:r>
            <a:br/>
            <a:r>
              <a:rPr>
                <a:solidFill>
                  <a:srgbClr val="1C2B44"/>
                </a:solidFill>
              </a:rPr>
              <a:t>• Uses relative performance to guide policy updates.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40680"/>
            <a:ext cx="103327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Class analogy: PPO = controlled improvement; GRPO = compare several answers and learn from their relative scores.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18. GSPO and SAPO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POLICY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66360" cy="3657600"/>
          </a:xfrm>
          <a:prstGeom prst="roundRect">
            <a:avLst/>
          </a:prstGeom>
          <a:solidFill>
            <a:srgbClr val="FFF4D8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91440" cy="3657600"/>
          </a:xfrm>
          <a:prstGeom prst="rect">
            <a:avLst/>
          </a:prstGeom>
          <a:solidFill>
            <a:srgbClr val="F5B53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32688" y="1499616"/>
            <a:ext cx="48188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GSPO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01952"/>
            <a:ext cx="4818888" cy="3035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Group Sequence Policy Optimization</a:t>
            </a:r>
            <a:br/>
            <a:br/>
            <a:r>
              <a:rPr>
                <a:solidFill>
                  <a:srgbClr val="1C2B44"/>
                </a:solidFill>
              </a:rPr>
              <a:t>Uses sequence-level importance ratios, considering a generated response at the sequence level rather than relying only on token-level ratios.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166360" cy="3657600"/>
          </a:xfrm>
          <a:prstGeom prst="roundRect">
            <a:avLst/>
          </a:prstGeom>
          <a:solidFill>
            <a:srgbClr val="DCF3E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91440" cy="3657600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64807" y="1499616"/>
            <a:ext cx="48188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SAPO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901952"/>
            <a:ext cx="4818888" cy="3035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Soft Adaptive Policy Optimization</a:t>
            </a:r>
            <a:br/>
            <a:br/>
            <a:r>
              <a:rPr>
                <a:solidFill>
                  <a:srgbClr val="1C2B44"/>
                </a:solidFill>
              </a:rPr>
              <a:t>Uses smooth, adaptive weighting in policy optimization. The precise behavior depends on the method's mathematical formulation and implementation.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2412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C34B4B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At this level, focus on the main idea and purpose—not the derivation of advanced equations.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19. The LLM lifecycle: from training to serving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PUTTING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2240280" cy="777240"/>
          </a:xfrm>
          <a:prstGeom prst="roundRect">
            <a:avLst/>
          </a:prstGeom>
          <a:solidFill>
            <a:srgbClr val="DEEBF9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1. Pretraining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34640"/>
            <a:ext cx="2286000" cy="10058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4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Learn broad language patterns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34640" y="2304288"/>
            <a:ext cx="640080" cy="0"/>
          </a:xfrm>
          <a:prstGeom prst="line">
            <a:avLst/>
          </a:prstGeom>
          <a:ln w="2540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20440" y="1920240"/>
            <a:ext cx="2240280" cy="777240"/>
          </a:xfrm>
          <a:prstGeom prst="roundRect">
            <a:avLst/>
          </a:prstGeom>
          <a:solidFill>
            <a:srgbClr val="DCF3EF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2. Fine-tuning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2834640"/>
            <a:ext cx="2286000" cy="10058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4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Learn from examples of desired responses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720" y="2304288"/>
            <a:ext cx="640080" cy="0"/>
          </a:xfrm>
          <a:prstGeom prst="line">
            <a:avLst/>
          </a:prstGeom>
          <a:ln w="2540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46520" y="1920240"/>
            <a:ext cx="2240280" cy="777240"/>
          </a:xfrm>
          <a:prstGeom prst="roundRect">
            <a:avLst/>
          </a:prstGeom>
          <a:solidFill>
            <a:srgbClr val="FFF4D8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3. Policy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834640"/>
            <a:ext cx="2286000" cy="10058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4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Use rewards to refine behavior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0" y="2304288"/>
            <a:ext cx="640080" cy="0"/>
          </a:xfrm>
          <a:prstGeom prst="line">
            <a:avLst/>
          </a:prstGeom>
          <a:ln w="2540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372600" y="1920240"/>
            <a:ext cx="2240280" cy="777240"/>
          </a:xfrm>
          <a:prstGeom prst="roundRect">
            <a:avLst/>
          </a:prstGeom>
          <a:solidFill>
            <a:srgbClr val="FCE6E6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4. Serving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5168" y="2834640"/>
            <a:ext cx="2286000" cy="10058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4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Answer real users efficiently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389120"/>
            <a:ext cx="10241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914400" y="4389120"/>
            <a:ext cx="91440" cy="1005840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1115568" y="4517136"/>
            <a:ext cx="9893807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College AI tutor 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919472"/>
            <a:ext cx="9893807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Learns language patterns → studies example answers → uses feedback during training → answers students' questions.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20. Classroom activity: design an AI tutor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APPLY YOUR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1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Scenario: A college creates an AI tutor that recommends practice questions.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6858000" cy="3566160"/>
          </a:xfrm>
          <a:prstGeom prst="rect">
            <a:avLst/>
          </a:prstGeom>
          <a:noFill/>
        </p:spPr>
        <p:txBody>
          <a:bodyPr wrap="square" lIns="109728" rIns="73152" tIns="54864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366FC9"/>
                </a:solidFill>
                <a:latin typeface="Aptos"/>
              </a:rPr>
              <a:t>• Agent: </a:t>
            </a:r>
            <a:r>
              <a:rPr sz="1800">
                <a:solidFill>
                  <a:srgbClr val="1C2B44"/>
                </a:solidFill>
                <a:latin typeface="Aptos"/>
              </a:rPr>
              <a:t>What system makes the decision?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366FC9"/>
                </a:solidFill>
                <a:latin typeface="Aptos"/>
              </a:rPr>
              <a:t>• State: </a:t>
            </a:r>
            <a:r>
              <a:rPr sz="1800">
                <a:solidFill>
                  <a:srgbClr val="1C2B44"/>
                </a:solidFill>
                <a:latin typeface="Aptos"/>
              </a:rPr>
              <a:t>What information about the learner matters?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366FC9"/>
                </a:solidFill>
                <a:latin typeface="Aptos"/>
              </a:rPr>
              <a:t>• Action: </a:t>
            </a:r>
            <a:r>
              <a:rPr sz="1800">
                <a:solidFill>
                  <a:srgbClr val="1C2B44"/>
                </a:solidFill>
                <a:latin typeface="Aptos"/>
              </a:rPr>
              <a:t>What can the tutor choose to do?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366FC9"/>
                </a:solidFill>
                <a:latin typeface="Aptos"/>
              </a:rPr>
              <a:t>• Reward: </a:t>
            </a:r>
            <a:r>
              <a:rPr sz="1800">
                <a:solidFill>
                  <a:srgbClr val="1C2B44"/>
                </a:solidFill>
                <a:latin typeface="Aptos"/>
              </a:rPr>
              <a:t>How could useful learning be measured?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366FC9"/>
                </a:solidFill>
                <a:latin typeface="Aptos"/>
              </a:rPr>
              <a:t>• Risk: </a:t>
            </a:r>
            <a:r>
              <a:rPr sz="1800">
                <a:solidFill>
                  <a:srgbClr val="1C2B44"/>
                </a:solidFill>
                <a:latin typeface="Aptos"/>
              </a:rPr>
              <a:t>What if the reward only counts fast answers?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920240"/>
            <a:ext cx="3154680" cy="2926080"/>
          </a:xfrm>
          <a:prstGeom prst="roundRect">
            <a:avLst/>
          </a:prstGeom>
          <a:solidFill>
            <a:srgbClr val="FFF4D8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8138160" y="1920240"/>
            <a:ext cx="91440" cy="2926080"/>
          </a:xfrm>
          <a:prstGeom prst="rect">
            <a:avLst/>
          </a:prstGeom>
          <a:solidFill>
            <a:srgbClr val="F5B53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339328" y="2048256"/>
            <a:ext cx="28072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Discuss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2450592"/>
            <a:ext cx="2807208" cy="23042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Does a correct answer always mean the student understands?</a:t>
            </a:r>
            <a:br/>
            <a:br/>
            <a:r>
              <a:rPr>
                <a:solidFill>
                  <a:srgbClr val="1C2B44"/>
                </a:solidFill>
              </a:rPr>
              <a:t>What other signals might help?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21. Five ideas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234440"/>
            <a:ext cx="2103120" cy="566928"/>
          </a:xfrm>
          <a:prstGeom prst="roundRect">
            <a:avLst/>
          </a:prstGeom>
          <a:solidFill>
            <a:srgbClr val="DEEBF9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280160"/>
            <a:ext cx="7955279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Generates text by predicting tokens.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48840"/>
            <a:ext cx="2103120" cy="566928"/>
          </a:xfrm>
          <a:prstGeom prst="roundRect">
            <a:avLst/>
          </a:prstGeom>
          <a:solidFill>
            <a:srgbClr val="DCF3EF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194560"/>
            <a:ext cx="7955279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Learns a policy using actions and rewards.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063240"/>
            <a:ext cx="2103120" cy="566928"/>
          </a:xfrm>
          <a:prstGeom prst="roundRect">
            <a:avLst/>
          </a:prstGeom>
          <a:solidFill>
            <a:srgbClr val="FFF4D8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108960"/>
            <a:ext cx="7955279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Must reflect the real goal.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977639"/>
            <a:ext cx="2103120" cy="566928"/>
          </a:xfrm>
          <a:prstGeom prst="roundRect">
            <a:avLst/>
          </a:prstGeom>
          <a:solidFill>
            <a:srgbClr val="FCE6E6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Algorithms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4023359"/>
            <a:ext cx="7955279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PPO, GRPO, GSPO and SAPO use different optimization ideas.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892040"/>
            <a:ext cx="2103120" cy="566928"/>
          </a:xfrm>
          <a:prstGeom prst="roundRect">
            <a:avLst/>
          </a:prstGeom>
          <a:solidFill>
            <a:srgbClr val="DEEBF9"/>
          </a:solidFill>
          <a:ln>
            <a:solidFill>
              <a:srgbClr val="30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6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937759"/>
            <a:ext cx="7955279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GPUs, memory and serving systems help run models efficiently.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897880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Main message: reinforcement learning uses feedback to help improve AI behavior—but good rewards and careful evaluation are essential.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22.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CHECK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241280" cy="4297680"/>
          </a:xfrm>
          <a:prstGeom prst="rect">
            <a:avLst/>
          </a:prstGeom>
          <a:noFill/>
        </p:spPr>
        <p:txBody>
          <a:bodyPr wrap="square" lIns="109728" rIns="73152" tIns="54864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• 1. What is a reward in reinforcement learning?</a:t>
            </a:r>
          </a:p>
          <a:p>
            <a:pPr>
              <a:spcAft>
                <a:spcPts val="1400"/>
              </a:spcAft>
              <a:defRPr sz="20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• 2. What is the difference between training and inference?</a:t>
            </a:r>
          </a:p>
          <a:p>
            <a:pPr>
              <a:spcAft>
                <a:spcPts val="1400"/>
              </a:spcAft>
              <a:defRPr sz="20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• 3. How are Top-K and Top-P different?</a:t>
            </a:r>
          </a:p>
          <a:p>
            <a:pPr>
              <a:spcAft>
                <a:spcPts val="1400"/>
              </a:spcAft>
              <a:defRPr sz="20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• 4. Why are GPUs useful for deep learning?</a:t>
            </a:r>
          </a:p>
          <a:p>
            <a:pPr>
              <a:spcAft>
                <a:spcPts val="1400"/>
              </a:spcAft>
              <a:defRPr sz="20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• 5. What does GRPO compare?</a:t>
            </a:r>
          </a:p>
          <a:p>
            <a:pPr>
              <a:spcAft>
                <a:spcPts val="1400"/>
              </a:spcAft>
              <a:defRPr sz="20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• 6. Why can a poorly designed reward be dangerous?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Ask students to answer in their own words and give one real-life example.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Quick quiz: suggested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1F9188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ANSWER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05156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8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REINFORCEMENT LEARNING WITH LLMs  •  B.Sc. / B.Com.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98480" cy="4937760"/>
          </a:xfrm>
          <a:prstGeom prst="rect">
            <a:avLst/>
          </a:prstGeom>
          <a:noFill/>
        </p:spPr>
        <p:txBody>
          <a:bodyPr wrap="square" lIns="109728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• A numerical signal about how desirable an outcome is.</a:t>
            </a:r>
          </a:p>
          <a:p>
            <a:pPr>
              <a:spcAft>
                <a:spcPts val="1300"/>
              </a:spcAft>
              <a:defRPr sz="18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• Training adjusts model parameters; inference uses the trained model.</a:t>
            </a:r>
          </a:p>
          <a:p>
            <a:pPr>
              <a:spcAft>
                <a:spcPts val="1300"/>
              </a:spcAft>
              <a:defRPr sz="18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• Top-K uses a fixed number of candidates; Top-P uses a cumulative probability threshold.</a:t>
            </a:r>
          </a:p>
          <a:p>
            <a:pPr>
              <a:spcAft>
                <a:spcPts val="1300"/>
              </a:spcAft>
              <a:defRPr sz="18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• GPUs can perform many suitable numerical operations in parallel.</a:t>
            </a:r>
          </a:p>
          <a:p>
            <a:pPr>
              <a:spcAft>
                <a:spcPts val="1300"/>
              </a:spcAft>
              <a:defRPr sz="18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• GRPO compares rewards for multiple responses in a group.</a:t>
            </a:r>
          </a:p>
          <a:p>
            <a:pPr>
              <a:spcAft>
                <a:spcPts val="1300"/>
              </a:spcAft>
              <a:defRPr sz="1800">
                <a:solidFill>
                  <a:srgbClr val="2B344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• The system may optimize the wrong behavior if the reward does not match the real goal.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594360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5943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400" b="1">
                <a:solidFill>
                  <a:srgbClr val="F5B53D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657600"/>
            <a:ext cx="36576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CEE1F1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Think about this: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60520"/>
            <a:ext cx="804672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200" b="0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1C2B44"/>
                </a:solidFill>
              </a:rPr>
              <a:t>How would you design a reward system for an AI assistant used by your college?</a:t>
            </a:r>
          </a:p>
        </p:txBody>
      </p:sp>
      <p:sp>
        <p:nvSpPr>
          <p:cNvPr id="6" name="Oval 5"/>
          <p:cNvSpPr/>
          <p:nvPr/>
        </p:nvSpPr>
        <p:spPr>
          <a:xfrm>
            <a:off x="9144000" y="1097280"/>
            <a:ext cx="914400" cy="914400"/>
          </a:xfrm>
          <a:prstGeom prst="ellipse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7" name="Oval 6"/>
          <p:cNvSpPr/>
          <p:nvPr/>
        </p:nvSpPr>
        <p:spPr>
          <a:xfrm>
            <a:off x="10149840" y="2103120"/>
            <a:ext cx="502920" cy="502920"/>
          </a:xfrm>
          <a:prstGeom prst="ellipse">
            <a:avLst/>
          </a:prstGeom>
          <a:solidFill>
            <a:srgbClr val="F5B53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8" name="Oval 7"/>
          <p:cNvSpPr/>
          <p:nvPr/>
        </p:nvSpPr>
        <p:spPr>
          <a:xfrm>
            <a:off x="8778240" y="2743200"/>
            <a:ext cx="411480" cy="411480"/>
          </a:xfrm>
          <a:prstGeom prst="ellipse">
            <a:avLst/>
          </a:prstGeom>
          <a:solidFill>
            <a:srgbClr val="3067B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9" name="Oval 8"/>
          <p:cNvSpPr/>
          <p:nvPr/>
        </p:nvSpPr>
        <p:spPr>
          <a:xfrm>
            <a:off x="9784080" y="3749039"/>
            <a:ext cx="1280160" cy="1280160"/>
          </a:xfrm>
          <a:prstGeom prst="ellipse">
            <a:avLst/>
          </a:prstGeom>
          <a:solidFill>
            <a:srgbClr val="3067B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0" name="Oval 9"/>
          <p:cNvSpPr/>
          <p:nvPr/>
        </p:nvSpPr>
        <p:spPr>
          <a:xfrm>
            <a:off x="8686800" y="4937760"/>
            <a:ext cx="640080" cy="640080"/>
          </a:xfrm>
          <a:prstGeom prst="ellipse">
            <a:avLst/>
          </a:prstGeom>
          <a:solidFill>
            <a:srgbClr val="1F918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4F7FC"/>
                </a:solidFill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BE55"/>
                </a:solidFill>
                <a:latin typeface="Aptos"/>
              </a:defRPr>
            </a:pPr>
            <a:r>
              <a:rPr>
                <a:solidFill/>
              </a:rPr>
              <a:t>TOP-K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BEC9DA"/>
                </a:solidFill>
                <a:latin typeface="Aptos"/>
              </a:defRPr>
            </a:pPr>
            <a:r>
              <a:rPr>
                <a:solidFill/>
              </a:rPr>
              <a:t>Real-life example: choosing a reply suggestion on your phone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349240" cy="4434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4754880" cy="7772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Imagine your phone is completing:</a:t>
            </a:r>
          </a:p>
          <a:p>
            <a:pPr>
              <a:spcAft>
                <a:spcPts val="500"/>
              </a:spcAft>
              <a:defRPr sz="20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“I’m running late, I will reach in…”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475488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43BEAD"/>
                </a:solidFill>
                <a:latin typeface="Aptos"/>
              </a:defRPr>
            </a:pPr>
            <a:r>
              <a:rPr>
                <a:solidFill/>
              </a:rPr>
              <a:t>Possible next words and 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99232"/>
            <a:ext cx="1234440" cy="25603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3017520"/>
            <a:ext cx="2607868" cy="201168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38144"/>
            <a:ext cx="1234440" cy="25603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10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3456432"/>
            <a:ext cx="2211019" cy="201168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77056"/>
            <a:ext cx="1234440" cy="25603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soon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3895344"/>
            <a:ext cx="1559052" cy="201168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15968"/>
            <a:ext cx="1234440" cy="25603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an hour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4334255"/>
            <a:ext cx="510235" cy="201168"/>
          </a:xfrm>
          <a:prstGeom prst="rect">
            <a:avLst/>
          </a:prstGeom>
          <a:solidFill>
            <a:srgbClr val="EE6F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54879"/>
            <a:ext cx="1234440" cy="25603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banana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4773167"/>
            <a:ext cx="85039" cy="201168"/>
          </a:xfrm>
          <a:prstGeom prst="rect">
            <a:avLst/>
          </a:prstGeom>
          <a:solidFill>
            <a:srgbClr val="EE6F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82880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BE55"/>
                </a:solidFill>
                <a:latin typeface="Aptos"/>
              </a:defRPr>
            </a:pPr>
            <a:r>
              <a:rPr>
                <a:solidFill/>
              </a:rPr>
              <a:t>Top-K =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5193792"/>
            <a:ext cx="3154680" cy="56692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Only the 3 highest-scoring candidates remain:</a:t>
            </a:r>
          </a:p>
          <a:p>
            <a:pPr>
              <a:spcAft>
                <a:spcPts val="500"/>
              </a:spcAft>
              <a:defRPr sz="14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“5 min”, “10 min”, and “soon”. The model samples from these.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417320"/>
            <a:ext cx="5303520" cy="4434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37360"/>
            <a:ext cx="438912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FFBE55"/>
                </a:solidFill>
                <a:latin typeface="Aptos"/>
              </a:defRPr>
            </a:pPr>
            <a:r>
              <a:rPr>
                <a:solidFill/>
              </a:rPr>
              <a:t>What changes?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240280"/>
            <a:ext cx="4480560" cy="2560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K = 1</a:t>
            </a:r>
          </a:p>
          <a:p>
            <a:pPr>
              <a:spcAft>
                <a:spcPts val="500"/>
              </a:spcAft>
              <a:defRPr sz="17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Most restrictive: only the top candidate is considered.</a:t>
            </a:r>
          </a:p>
          <a:p>
            <a:pPr>
              <a:spcAft>
                <a:spcPts val="500"/>
              </a:spcAft>
              <a:defRPr sz="1700" b="0">
                <a:solidFill>
                  <a:srgbClr val="F4F7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K = 3</a:t>
            </a:r>
          </a:p>
          <a:p>
            <a:pPr>
              <a:spcAft>
                <a:spcPts val="500"/>
              </a:spcAft>
              <a:defRPr sz="17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Three likely candidates are available.</a:t>
            </a:r>
          </a:p>
          <a:p>
            <a:pPr>
              <a:spcAft>
                <a:spcPts val="500"/>
              </a:spcAft>
              <a:defRPr sz="1700" b="0">
                <a:solidFill>
                  <a:srgbClr val="F4F7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K = 5</a:t>
            </a:r>
          </a:p>
          <a:p>
            <a:pPr>
              <a:spcAft>
                <a:spcPts val="500"/>
              </a:spcAft>
              <a:defRPr sz="17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More variety is possible, including weaker candidates.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074920"/>
            <a:ext cx="438912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43BEAD"/>
                </a:solidFill>
                <a:latin typeface="Aptos"/>
              </a:defRPr>
            </a:pPr>
            <a:r>
              <a:rPr>
                <a:solidFill/>
              </a:rPr>
              <a:t>Remember: Top-K limits the number of candidate tokens.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BE55"/>
                </a:solidFill>
                <a:latin typeface="Aptos"/>
              </a:defRPr>
            </a:pPr>
            <a:r>
              <a:rPr>
                <a:solidFill/>
              </a:rPr>
              <a:t>TOP-P (NUCLEUS)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BEC9DA"/>
                </a:solidFill>
                <a:latin typeface="Aptos"/>
              </a:defRPr>
            </a:pPr>
            <a:r>
              <a:rPr>
                <a:solidFill/>
              </a:rPr>
              <a:t>Real-life example: choosing words for a message with a flexible candidate 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349240" cy="4434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4754880" cy="71323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Prompt:</a:t>
            </a:r>
          </a:p>
          <a:p>
            <a:pPr>
              <a:spcAft>
                <a:spcPts val="500"/>
              </a:spcAft>
              <a:defRPr sz="20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“Thanks for helping me today. You are…”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466344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43BEAD"/>
                </a:solidFill>
                <a:latin typeface="Aptos"/>
              </a:defRPr>
            </a:pPr>
            <a:r>
              <a:rPr>
                <a:solidFill/>
              </a:rPr>
              <a:t>Possible next words with probabilities (illustrative)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52928"/>
            <a:ext cx="1371600" cy="237744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kind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2871216"/>
            <a:ext cx="2651760" cy="173736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09544"/>
            <a:ext cx="1371600" cy="237744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helpful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3227832"/>
            <a:ext cx="1704702" cy="173736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371600" cy="237744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amazing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3584448"/>
            <a:ext cx="1010194" cy="173736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22776"/>
            <a:ext cx="1371600" cy="237744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wonderful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3941063"/>
            <a:ext cx="568234" cy="173736"/>
          </a:xfrm>
          <a:prstGeom prst="rect">
            <a:avLst/>
          </a:prstGeom>
          <a:solidFill>
            <a:srgbClr val="EE6F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9392"/>
            <a:ext cx="1371600" cy="237744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blue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4297679"/>
            <a:ext cx="252548" cy="173736"/>
          </a:xfrm>
          <a:prstGeom prst="rect">
            <a:avLst/>
          </a:prstGeom>
          <a:solidFill>
            <a:srgbClr val="EE6F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8"/>
            <a:ext cx="1371600" cy="237744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spaceship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1720" y="4654296"/>
            <a:ext cx="126274" cy="173736"/>
          </a:xfrm>
          <a:prstGeom prst="rect">
            <a:avLst/>
          </a:prstGeom>
          <a:solidFill>
            <a:srgbClr val="EE6F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1920240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BE55"/>
                </a:solidFill>
                <a:latin typeface="Aptos"/>
              </a:defRPr>
            </a:pPr>
            <a:r>
              <a:rPr>
                <a:solidFill/>
              </a:rPr>
              <a:t>Top-P = 0.85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193792"/>
            <a:ext cx="26974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Keep adding the most likely words until their total probability reaches about 85%.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417320"/>
            <a:ext cx="5303520" cy="4434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737360"/>
            <a:ext cx="438912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FFBE55"/>
                </a:solidFill>
                <a:latin typeface="Aptos"/>
              </a:defRPr>
            </a:pPr>
            <a:r>
              <a:rPr>
                <a:solidFill/>
              </a:rPr>
              <a:t>How does it work?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240280"/>
            <a:ext cx="4480560" cy="2560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Top-P = 0.50</a:t>
            </a:r>
          </a:p>
          <a:p>
            <a:pPr>
              <a:spcAft>
                <a:spcPts val="500"/>
              </a:spcAft>
              <a:defRPr sz="17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Keeps a small set of high-probability choices.</a:t>
            </a:r>
          </a:p>
          <a:p>
            <a:pPr>
              <a:spcAft>
                <a:spcPts val="500"/>
              </a:spcAft>
              <a:defRPr sz="1700" b="0">
                <a:solidFill>
                  <a:srgbClr val="F4F7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Top-P = 0.90</a:t>
            </a:r>
          </a:p>
          <a:p>
            <a:pPr>
              <a:spcAft>
                <a:spcPts val="500"/>
              </a:spcAft>
              <a:defRPr sz="17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Keeps more plausible choices and adds variety.</a:t>
            </a:r>
          </a:p>
          <a:p>
            <a:pPr>
              <a:spcAft>
                <a:spcPts val="500"/>
              </a:spcAft>
              <a:defRPr sz="1700" b="0">
                <a:solidFill>
                  <a:srgbClr val="F4F7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Top-P = 1.00</a:t>
            </a:r>
          </a:p>
          <a:p>
            <a:pPr>
              <a:spcAft>
                <a:spcPts val="500"/>
              </a:spcAft>
              <a:defRPr sz="17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Usually considers the full probability distribution.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074920"/>
            <a:ext cx="4480560" cy="53035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43BEAD"/>
                </a:solidFill>
                <a:latin typeface="Aptos"/>
              </a:defRPr>
            </a:pPr>
            <a:r>
              <a:rPr>
                <a:solidFill/>
              </a:rPr>
              <a:t>Remember: Top-P limits by cumulative probability, not a fixed count.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BE55"/>
                </a:solidFill>
                <a:latin typeface="Aptos"/>
              </a:defRPr>
            </a:pPr>
            <a:r>
              <a:rPr>
                <a:solidFill/>
              </a:rPr>
              <a:t>TOP-K vs TOP-P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BEC9DA"/>
                </a:solidFill>
                <a:latin typeface="Aptos"/>
              </a:defRPr>
            </a:pPr>
            <a:r>
              <a:rPr>
                <a:solidFill/>
              </a:rPr>
              <a:t>A quick comparison students can remember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66360" cy="3337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4526280" cy="4572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43BEAD"/>
                </a:solidFill>
                <a:latin typeface="Aptos"/>
              </a:defRPr>
            </a:pPr>
            <a:r>
              <a:rPr>
                <a:solidFill/>
              </a:rPr>
              <a:t>TOP-K = FIXED 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77440"/>
            <a:ext cx="4389120" cy="1645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Think of a classroom:</a:t>
            </a:r>
          </a:p>
          <a:p>
            <a:pPr>
              <a:spcAft>
                <a:spcPts val="500"/>
              </a:spcAft>
              <a:defRPr sz="18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“Allow only the 3 highest-scoring students into the final round.”</a:t>
            </a:r>
          </a:p>
          <a:p>
            <a:pPr>
              <a:spcAft>
                <a:spcPts val="500"/>
              </a:spcAft>
              <a:defRPr sz="1800" b="0">
                <a:solidFill>
                  <a:srgbClr val="F4F7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The number is fixed: K = 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166360" cy="3337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526280" cy="4572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FBE55"/>
                </a:solidFill>
                <a:latin typeface="Aptos"/>
              </a:defRPr>
            </a:pPr>
            <a:r>
              <a:rPr>
                <a:solidFill/>
              </a:rPr>
              <a:t>TOP-P = PROBABILITY THRESHOLD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77440"/>
            <a:ext cx="4389120" cy="1645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Think of filling a team:</a:t>
            </a:r>
          </a:p>
          <a:p>
            <a:pPr>
              <a:spcAft>
                <a:spcPts val="500"/>
              </a:spcAft>
              <a:defRPr sz="18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“Keep the best candidates until their combined likelihood reaches 85%.”</a:t>
            </a:r>
          </a:p>
          <a:p>
            <a:pPr>
              <a:spcAft>
                <a:spcPts val="500"/>
              </a:spcAft>
              <a:defRPr sz="1800" b="0">
                <a:solidFill>
                  <a:srgbClr val="F4F7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The number can change from one step to another.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120640"/>
            <a:ext cx="10332720" cy="822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5321808"/>
            <a:ext cx="960120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F4F7FC"/>
                </a:solidFill>
                <a:latin typeface="Aptos"/>
              </a:defRPr>
            </a:pPr>
            <a:r>
              <a:rPr>
                <a:solidFill/>
              </a:rPr>
              <a:t>Easy memory trick: K counts candidates; P adds probabilities.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DA3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E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01168"/>
            <a:ext cx="201168" cy="201168"/>
          </a:xfrm>
          <a:prstGeom prst="rect">
            <a:avLst/>
          </a:prstGeom>
          <a:solidFill>
            <a:srgbClr val="366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 with LLMs – B.Sc. and B.Com. Introduction</dc:title>
  <dc:subject>Beginner-friendly teaching slides based on Day 3 PDF</dc:subject>
  <dc:creator>OpenAI</dc:creator>
  <cp:keywords>Reinforcement Learning, LLM, BSc, BCom, PPO, GRPO, vLLM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